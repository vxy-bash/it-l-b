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5" r:id="rId3"/>
    <p:sldId id="266" r:id="rId4"/>
    <p:sldId id="267" r:id="rId5"/>
    <p:sldId id="257" r:id="rId6"/>
    <p:sldId id="264" r:id="rId7"/>
    <p:sldId id="258" r:id="rId8"/>
    <p:sldId id="259" r:id="rId9"/>
    <p:sldId id="260" r:id="rId10"/>
    <p:sldId id="261" r:id="rId11"/>
    <p:sldId id="262" r:id="rId12"/>
    <p:sldId id="263" r:id="rId13"/>
  </p:sldIdLst>
  <p:sldSz cx="14630400" cy="8229600"/>
  <p:notesSz cx="8229600" cy="146304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Open Sans" panose="020B0606030504020204" pitchFamily="34" charset="0"/>
      <p:regular r:id="rId19"/>
      <p:bold r:id="rId20"/>
      <p:italic r:id="rId21"/>
      <p:boldItalic r:id="rId22"/>
    </p:embeddedFont>
    <p:embeddedFont>
      <p:font typeface="Unbounded Bold" panose="020B0604020202020204" charset="0"/>
      <p:bold r:id="rId23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iuser" initials="v" lastIdx="1" clrIdx="0">
    <p:extLst>
      <p:ext uri="{19B8F6BF-5375-455C-9EA6-DF929625EA0E}">
        <p15:presenceInfo xmlns:p15="http://schemas.microsoft.com/office/powerpoint/2012/main" userId="vi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25" autoAdjust="0"/>
    <p:restoredTop sz="94610"/>
  </p:normalViewPr>
  <p:slideViewPr>
    <p:cSldViewPr snapToGrid="0" snapToObjects="1">
      <p:cViewPr varScale="1">
        <p:scale>
          <a:sx n="101" d="100"/>
          <a:sy n="101" d="100"/>
        </p:scale>
        <p:origin x="154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heme" Target="theme/theme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10-29T09:39:58.748" idx="1">
    <p:pos x="10" y="10"/>
    <p:text/>
    <p:extLst>
      <p:ext uri="{C676402C-5697-4E1C-873F-D02D1690AC5C}">
        <p15:threadingInfo xmlns:p15="http://schemas.microsoft.com/office/powerpoint/2012/main" timeZoneBias="-6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4121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3CF90-FD25-B8BA-E6C1-EA27257D0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5B3751-E827-170E-3ED4-E82C990842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2F9E28-8DC2-9FDC-9E1E-DB8A01BAF9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C2E746-AC2F-743D-CC9A-DC3815BBF6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4820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469CC-D805-FE4F-8511-DD901DB34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DB549E-E1C6-AA93-4F4F-71A2110FC3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36D675-2026-AF7B-322D-B2F6A8DD0D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91794A-971D-F3F4-7170-511DBAE187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0987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0EFC5-2BFB-A5B1-E932-1F54CEA6D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806B1A-6C6A-36DA-50E3-9CB1EFEE77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4BA145-4DD9-A228-A0F9-E4CF8E1A85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ECEFA1-F042-B461-54E3-05F2EE6CBB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0436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 userDrawn="1"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80190" y="2428042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OOP und die 4 </a:t>
            </a:r>
            <a:r>
              <a:rPr lang="en-US" sz="4450" b="1" dirty="0" err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Säulen</a:t>
            </a:r>
            <a:endParaRPr lang="en-US" sz="4450" b="1" dirty="0">
              <a:solidFill>
                <a:srgbClr val="333F70"/>
              </a:solidFill>
              <a:latin typeface="Unbounded Bold" pitchFamily="34" charset="0"/>
              <a:ea typeface="Unbounded Bold" pitchFamily="34" charset="-122"/>
              <a:cs typeface="Unbounded Bold" pitchFamily="34" charset="-120"/>
            </a:endParaRPr>
          </a:p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</a:rPr>
              <a:t>In</a:t>
            </a:r>
          </a:p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</a:rPr>
              <a:t>C#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894540"/>
            <a:ext cx="7556421" cy="907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Einführung</a:t>
            </a:r>
            <a:r>
              <a:rPr lang="en-US" sz="2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 </a:t>
            </a:r>
            <a:r>
              <a:rPr lang="en-US" sz="220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Objektorientierte</a:t>
            </a:r>
            <a:r>
              <a:rPr lang="en-US" sz="2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220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Programmierung</a:t>
            </a:r>
            <a:endParaRPr lang="en-US" sz="2200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EF285E0D-7C16-130F-10E4-28B833CBDF9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2548"/>
          <a:stretch>
            <a:fillRect/>
          </a:stretch>
        </p:blipFill>
        <p:spPr>
          <a:xfrm>
            <a:off x="0" y="5976"/>
            <a:ext cx="4016415" cy="822362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F42A13EC-99F6-37E2-59DE-79B0D5211B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999" y="4761179"/>
            <a:ext cx="4348996" cy="723781"/>
          </a:xfrm>
          <a:prstGeom prst="rect">
            <a:avLst/>
          </a:prstGeom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8359CDC1-9202-1B68-234B-27DE7C826282}"/>
              </a:ext>
            </a:extLst>
          </p:cNvPr>
          <p:cNvSpPr/>
          <p:nvPr/>
        </p:nvSpPr>
        <p:spPr>
          <a:xfrm>
            <a:off x="958855" y="5650948"/>
            <a:ext cx="2261949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endParaRPr lang="en-US" sz="24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1D67B83D-1AE2-327D-EE96-8B4043D2DE4F}"/>
              </a:ext>
            </a:extLst>
          </p:cNvPr>
          <p:cNvSpPr/>
          <p:nvPr/>
        </p:nvSpPr>
        <p:spPr>
          <a:xfrm>
            <a:off x="958855" y="6042187"/>
            <a:ext cx="3987284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Wiederverwendbarkeit von Code</a:t>
            </a:r>
          </a:p>
          <a:p>
            <a:pPr marL="0" indent="0" algn="l">
              <a:lnSpc>
                <a:spcPts val="2250"/>
              </a:lnSpc>
              <a:buNone/>
            </a:pPr>
            <a:r>
              <a:rPr lang="en-US" sz="200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ohne</a:t>
            </a:r>
            <a:r>
              <a:rPr lang="en-US" sz="2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200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ihn</a:t>
            </a:r>
            <a:r>
              <a:rPr lang="en-US" sz="2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200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erneut</a:t>
            </a:r>
            <a:r>
              <a:rPr lang="en-US" sz="2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200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zu</a:t>
            </a:r>
            <a:r>
              <a:rPr lang="en-US" sz="2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200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schreiben</a:t>
            </a:r>
            <a:r>
              <a:rPr lang="en-US" sz="2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2000" dirty="0"/>
          </a:p>
        </p:txBody>
      </p:sp>
      <p:pic>
        <p:nvPicPr>
          <p:cNvPr id="8" name="Image 2" descr="preencoded.png">
            <a:extLst>
              <a:ext uri="{FF2B5EF4-FFF2-40B4-BE49-F238E27FC236}">
                <a16:creationId xmlns:a16="http://schemas.microsoft.com/office/drawing/2014/main" id="{CF4C8CD9-A692-D763-582A-671F6270C3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6995" y="4746311"/>
            <a:ext cx="4348996" cy="723781"/>
          </a:xfrm>
          <a:prstGeom prst="rect">
            <a:avLst/>
          </a:prstGeom>
        </p:spPr>
      </p:pic>
      <p:sp>
        <p:nvSpPr>
          <p:cNvPr id="9" name="Text 3">
            <a:extLst>
              <a:ext uri="{FF2B5EF4-FFF2-40B4-BE49-F238E27FC236}">
                <a16:creationId xmlns:a16="http://schemas.microsoft.com/office/drawing/2014/main" id="{C777CCE5-7A76-CF1B-48C6-8406CE74D4A2}"/>
              </a:ext>
            </a:extLst>
          </p:cNvPr>
          <p:cNvSpPr/>
          <p:nvPr/>
        </p:nvSpPr>
        <p:spPr>
          <a:xfrm>
            <a:off x="5307850" y="5650948"/>
            <a:ext cx="2261949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400" b="1" dirty="0" err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Übersicht</a:t>
            </a:r>
            <a:endParaRPr lang="en-US" sz="240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124382D8-C23F-B9AA-C7E3-3F0C32512FC4}"/>
              </a:ext>
            </a:extLst>
          </p:cNvPr>
          <p:cNvSpPr/>
          <p:nvPr/>
        </p:nvSpPr>
        <p:spPr>
          <a:xfrm>
            <a:off x="5307850" y="6042187"/>
            <a:ext cx="3987284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Den Code </a:t>
            </a:r>
            <a:r>
              <a:rPr lang="en-US" sz="200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strukturierter</a:t>
            </a:r>
            <a:r>
              <a:rPr lang="en-US" sz="2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und </a:t>
            </a:r>
            <a:r>
              <a:rPr lang="en-US" sz="200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übersichtlicher</a:t>
            </a:r>
            <a:r>
              <a:rPr lang="en-US" sz="2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200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machen</a:t>
            </a:r>
            <a:r>
              <a:rPr lang="en-US" sz="2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2000" dirty="0"/>
          </a:p>
        </p:txBody>
      </p:sp>
      <p:pic>
        <p:nvPicPr>
          <p:cNvPr id="11" name="Image 3" descr="preencoded.png">
            <a:extLst>
              <a:ext uri="{FF2B5EF4-FFF2-40B4-BE49-F238E27FC236}">
                <a16:creationId xmlns:a16="http://schemas.microsoft.com/office/drawing/2014/main" id="{F90FB15A-27C0-6C84-BC5A-81AEB3313B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9638" y="4732663"/>
            <a:ext cx="4348996" cy="723781"/>
          </a:xfrm>
          <a:prstGeom prst="rect">
            <a:avLst/>
          </a:prstGeom>
        </p:spPr>
      </p:pic>
      <p:sp>
        <p:nvSpPr>
          <p:cNvPr id="12" name="Text 5">
            <a:extLst>
              <a:ext uri="{FF2B5EF4-FFF2-40B4-BE49-F238E27FC236}">
                <a16:creationId xmlns:a16="http://schemas.microsoft.com/office/drawing/2014/main" id="{09E474AF-C7BF-0BB8-5BAB-B71D3CC1A316}"/>
              </a:ext>
            </a:extLst>
          </p:cNvPr>
          <p:cNvSpPr/>
          <p:nvPr/>
        </p:nvSpPr>
        <p:spPr>
          <a:xfrm>
            <a:off x="9656846" y="5650948"/>
            <a:ext cx="2261949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400" b="1" dirty="0" err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Wartbarkeit</a:t>
            </a:r>
            <a:endParaRPr lang="en-US" sz="2400" dirty="0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52C742C0-04B0-7AF1-9A6A-124C5FF4C94C}"/>
              </a:ext>
            </a:extLst>
          </p:cNvPr>
          <p:cNvSpPr/>
          <p:nvPr/>
        </p:nvSpPr>
        <p:spPr>
          <a:xfrm>
            <a:off x="9670494" y="6028539"/>
            <a:ext cx="39872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00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Einzelne</a:t>
            </a:r>
            <a:r>
              <a:rPr lang="en-US" sz="2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Klassen </a:t>
            </a:r>
            <a:r>
              <a:rPr lang="en-US" sz="200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ändern</a:t>
            </a:r>
            <a:r>
              <a:rPr lang="en-US" sz="2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um den Code in </a:t>
            </a:r>
            <a:r>
              <a:rPr lang="en-US" sz="200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mehreren</a:t>
            </a:r>
            <a:r>
              <a:rPr lang="en-US" sz="2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Orten </a:t>
            </a:r>
            <a:r>
              <a:rPr lang="en-US" sz="200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zu</a:t>
            </a:r>
            <a:r>
              <a:rPr lang="en-US" sz="2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200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warten</a:t>
            </a:r>
            <a:r>
              <a:rPr lang="en-US" sz="2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</a:p>
          <a:p>
            <a:pPr marL="0" indent="0" algn="l">
              <a:lnSpc>
                <a:spcPts val="2250"/>
              </a:lnSpc>
              <a:buNone/>
            </a:pPr>
            <a:r>
              <a:rPr lang="en-US" sz="2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</a:t>
            </a:r>
            <a:r>
              <a:rPr lang="en-US" sz="200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Wiederverwendung</a:t>
            </a:r>
            <a:r>
              <a:rPr lang="en-US" sz="2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)</a:t>
            </a:r>
          </a:p>
        </p:txBody>
      </p:sp>
      <p:sp>
        <p:nvSpPr>
          <p:cNvPr id="23" name="Text 0">
            <a:extLst>
              <a:ext uri="{FF2B5EF4-FFF2-40B4-BE49-F238E27FC236}">
                <a16:creationId xmlns:a16="http://schemas.microsoft.com/office/drawing/2014/main" id="{BD79119C-3BCD-E1F0-9A97-D3C42275D95B}"/>
              </a:ext>
            </a:extLst>
          </p:cNvPr>
          <p:cNvSpPr/>
          <p:nvPr/>
        </p:nvSpPr>
        <p:spPr>
          <a:xfrm>
            <a:off x="793790" y="879038"/>
            <a:ext cx="10425470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48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Was </a:t>
            </a:r>
            <a:r>
              <a:rPr lang="en-US" sz="4800" b="1" dirty="0" err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ist</a:t>
            </a:r>
            <a:r>
              <a:rPr lang="en-US" sz="48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OOP?</a:t>
            </a:r>
            <a:endParaRPr lang="en-US" sz="4800" dirty="0"/>
          </a:p>
        </p:txBody>
      </p:sp>
      <p:sp>
        <p:nvSpPr>
          <p:cNvPr id="25" name="Shape 2">
            <a:extLst>
              <a:ext uri="{FF2B5EF4-FFF2-40B4-BE49-F238E27FC236}">
                <a16:creationId xmlns:a16="http://schemas.microsoft.com/office/drawing/2014/main" id="{D288EF46-AD09-549F-1C4A-AFC6A0F6EEAB}"/>
              </a:ext>
            </a:extLst>
          </p:cNvPr>
          <p:cNvSpPr/>
          <p:nvPr/>
        </p:nvSpPr>
        <p:spPr>
          <a:xfrm>
            <a:off x="770930" y="1987510"/>
            <a:ext cx="91440" cy="1541978"/>
          </a:xfrm>
          <a:prstGeom prst="roundRect">
            <a:avLst>
              <a:gd name="adj" fmla="val 88558"/>
            </a:avLst>
          </a:prstGeom>
          <a:solidFill>
            <a:srgbClr val="26A688"/>
          </a:solidFill>
          <a:ln/>
        </p:spPr>
      </p:sp>
      <p:sp>
        <p:nvSpPr>
          <p:cNvPr id="26" name="Text 3">
            <a:extLst>
              <a:ext uri="{FF2B5EF4-FFF2-40B4-BE49-F238E27FC236}">
                <a16:creationId xmlns:a16="http://schemas.microsoft.com/office/drawing/2014/main" id="{8570C346-3906-3754-595C-55A839F93170}"/>
              </a:ext>
            </a:extLst>
          </p:cNvPr>
          <p:cNvSpPr/>
          <p:nvPr/>
        </p:nvSpPr>
        <p:spPr>
          <a:xfrm>
            <a:off x="1077992" y="2203133"/>
            <a:ext cx="3952399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800" b="1" dirty="0" err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Objektorientierte</a:t>
            </a:r>
            <a:r>
              <a:rPr lang="en-US" sz="28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 </a:t>
            </a:r>
            <a:r>
              <a:rPr lang="en-US" sz="2800" b="1" dirty="0" err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Programmierung</a:t>
            </a:r>
            <a:endParaRPr lang="en-US" sz="2800" dirty="0"/>
          </a:p>
        </p:txBody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3BBE4655-7FC6-9BAC-2DF7-592EE79219F5}"/>
              </a:ext>
            </a:extLst>
          </p:cNvPr>
          <p:cNvSpPr/>
          <p:nvPr/>
        </p:nvSpPr>
        <p:spPr>
          <a:xfrm>
            <a:off x="1077992" y="2697123"/>
            <a:ext cx="6461998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OOP </a:t>
            </a:r>
            <a:r>
              <a:rPr lang="en-US" sz="200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Strukturiert</a:t>
            </a:r>
            <a:r>
              <a:rPr lang="en-US" sz="2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Code in </a:t>
            </a:r>
            <a:r>
              <a:rPr lang="en-US" sz="200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Objekte</a:t>
            </a:r>
            <a:r>
              <a:rPr lang="en-US" sz="2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und </a:t>
            </a:r>
            <a:r>
              <a:rPr lang="en-US" sz="200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sorgt</a:t>
            </a:r>
            <a:r>
              <a:rPr lang="en-US" sz="20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für:</a:t>
            </a:r>
            <a:endParaRPr lang="en-US" sz="2000" dirty="0"/>
          </a:p>
        </p:txBody>
      </p:sp>
      <p:sp>
        <p:nvSpPr>
          <p:cNvPr id="28" name="Text 3">
            <a:extLst>
              <a:ext uri="{FF2B5EF4-FFF2-40B4-BE49-F238E27FC236}">
                <a16:creationId xmlns:a16="http://schemas.microsoft.com/office/drawing/2014/main" id="{2B76CFB3-4D89-3775-5E64-BBC1894C8A3F}"/>
              </a:ext>
            </a:extLst>
          </p:cNvPr>
          <p:cNvSpPr/>
          <p:nvPr/>
        </p:nvSpPr>
        <p:spPr>
          <a:xfrm>
            <a:off x="6716370" y="4397472"/>
            <a:ext cx="853429" cy="177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800" b="1" dirty="0" err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Ziele</a:t>
            </a:r>
            <a:endParaRPr lang="en-US" sz="2800" dirty="0"/>
          </a:p>
        </p:txBody>
      </p:sp>
      <p:sp>
        <p:nvSpPr>
          <p:cNvPr id="29" name="Text 3">
            <a:extLst>
              <a:ext uri="{FF2B5EF4-FFF2-40B4-BE49-F238E27FC236}">
                <a16:creationId xmlns:a16="http://schemas.microsoft.com/office/drawing/2014/main" id="{9633C014-D200-55D1-5A05-504C90C5E9CA}"/>
              </a:ext>
            </a:extLst>
          </p:cNvPr>
          <p:cNvSpPr/>
          <p:nvPr/>
        </p:nvSpPr>
        <p:spPr>
          <a:xfrm>
            <a:off x="958854" y="5650948"/>
            <a:ext cx="2261949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400" b="1" dirty="0" err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Wiederverwendung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809193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DDFF1-9AED-86E0-585D-A7898E9B9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AF4E136-2F45-848F-55A6-227D270A0819}"/>
              </a:ext>
            </a:extLst>
          </p:cNvPr>
          <p:cNvSpPr/>
          <p:nvPr/>
        </p:nvSpPr>
        <p:spPr>
          <a:xfrm>
            <a:off x="793790" y="739259"/>
            <a:ext cx="9768245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6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Was </a:t>
            </a:r>
            <a:r>
              <a:rPr lang="en-US" sz="3600" b="1" dirty="0" err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ist</a:t>
            </a:r>
            <a:r>
              <a:rPr lang="en-US" sz="36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</a:t>
            </a:r>
            <a:r>
              <a:rPr lang="en-US" sz="3600" b="1" dirty="0" err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eine</a:t>
            </a:r>
            <a:r>
              <a:rPr lang="en-US" sz="36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Klasse?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425DFCE-E481-0C94-DE61-794671C104A8}"/>
              </a:ext>
            </a:extLst>
          </p:cNvPr>
          <p:cNvSpPr/>
          <p:nvPr/>
        </p:nvSpPr>
        <p:spPr>
          <a:xfrm>
            <a:off x="793790" y="1782485"/>
            <a:ext cx="7648575" cy="1859161"/>
          </a:xfrm>
          <a:prstGeom prst="roundRect">
            <a:avLst>
              <a:gd name="adj" fmla="val 4099"/>
            </a:avLst>
          </a:prstGeom>
          <a:solidFill>
            <a:srgbClr val="D6F5EE"/>
          </a:solidFill>
          <a:ln w="7620">
            <a:solidFill>
              <a:srgbClr val="192248"/>
            </a:solidFill>
            <a:prstDash val="solid"/>
          </a:ln>
        </p:spPr>
        <p:txBody>
          <a:bodyPr/>
          <a:lstStyle/>
          <a:p>
            <a:endParaRPr lang="de-AT" sz="20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7B03200-C21E-FF42-0EF1-CAC793C49DB7}"/>
              </a:ext>
            </a:extLst>
          </p:cNvPr>
          <p:cNvSpPr/>
          <p:nvPr/>
        </p:nvSpPr>
        <p:spPr>
          <a:xfrm>
            <a:off x="982861" y="2674501"/>
            <a:ext cx="3470077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endParaRPr lang="en-US" sz="24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7D6291CA-15CE-90AB-956E-D28E857A69F9}"/>
              </a:ext>
            </a:extLst>
          </p:cNvPr>
          <p:cNvSpPr/>
          <p:nvPr/>
        </p:nvSpPr>
        <p:spPr>
          <a:xfrm>
            <a:off x="982861" y="2634264"/>
            <a:ext cx="7270432" cy="583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000" dirty="0"/>
              <a:t>Sie </a:t>
            </a:r>
            <a:r>
              <a:rPr lang="en-US" sz="2000" dirty="0" err="1"/>
              <a:t>definiert</a:t>
            </a:r>
            <a:r>
              <a:rPr lang="en-US" sz="2000" dirty="0"/>
              <a:t>, </a:t>
            </a:r>
            <a:r>
              <a:rPr lang="en-US" sz="2000" dirty="0" err="1"/>
              <a:t>welche</a:t>
            </a:r>
            <a:r>
              <a:rPr lang="en-US" sz="2000" dirty="0"/>
              <a:t> </a:t>
            </a:r>
            <a:r>
              <a:rPr lang="en-US" sz="2000" dirty="0" err="1"/>
              <a:t>Eigenschaften</a:t>
            </a:r>
            <a:r>
              <a:rPr lang="en-US" sz="2000" dirty="0"/>
              <a:t> und </a:t>
            </a:r>
            <a:r>
              <a:rPr lang="en-US" sz="2000" dirty="0" err="1"/>
              <a:t>Methoden</a:t>
            </a:r>
            <a:r>
              <a:rPr lang="en-US" sz="2000" dirty="0"/>
              <a:t> </a:t>
            </a:r>
            <a:r>
              <a:rPr lang="en-US" sz="2000" dirty="0" err="1"/>
              <a:t>ein</a:t>
            </a:r>
            <a:r>
              <a:rPr lang="en-US" sz="2000" dirty="0"/>
              <a:t> </a:t>
            </a:r>
            <a:r>
              <a:rPr lang="en-US" sz="2000" dirty="0" err="1"/>
              <a:t>Objekt</a:t>
            </a:r>
            <a:r>
              <a:rPr lang="en-US" sz="2000" dirty="0"/>
              <a:t> hat.</a:t>
            </a: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D31279FE-8D92-01D0-5C5E-697B3838B0E5}"/>
              </a:ext>
            </a:extLst>
          </p:cNvPr>
          <p:cNvSpPr/>
          <p:nvPr/>
        </p:nvSpPr>
        <p:spPr>
          <a:xfrm>
            <a:off x="805220" y="3834945"/>
            <a:ext cx="7648575" cy="4121700"/>
          </a:xfrm>
          <a:prstGeom prst="roundRect">
            <a:avLst>
              <a:gd name="adj" fmla="val 4099"/>
            </a:avLst>
          </a:prstGeom>
          <a:solidFill>
            <a:srgbClr val="D6F5EE"/>
          </a:solidFill>
          <a:ln w="7620">
            <a:solidFill>
              <a:srgbClr val="192248"/>
            </a:solidFill>
            <a:prstDash val="solid"/>
          </a:ln>
        </p:spPr>
        <p:txBody>
          <a:bodyPr/>
          <a:lstStyle/>
          <a:p>
            <a:endParaRPr lang="de-AT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DFCF9A21-F12F-2818-04E2-1CDCF2C4672F}"/>
              </a:ext>
            </a:extLst>
          </p:cNvPr>
          <p:cNvSpPr/>
          <p:nvPr/>
        </p:nvSpPr>
        <p:spPr>
          <a:xfrm>
            <a:off x="982861" y="2119580"/>
            <a:ext cx="2503051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Ein </a:t>
            </a:r>
            <a:r>
              <a:rPr lang="en-US" sz="2400" b="1" dirty="0" err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Baupaln</a:t>
            </a:r>
            <a:r>
              <a:rPr lang="en-US" sz="2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 für </a:t>
            </a:r>
            <a:r>
              <a:rPr lang="en-US" sz="2400" b="1" dirty="0" err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Objekte</a:t>
            </a:r>
            <a:endParaRPr lang="en-US" sz="2400" dirty="0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19FB8D36-6123-33BF-E066-932C0335DCFF}"/>
              </a:ext>
            </a:extLst>
          </p:cNvPr>
          <p:cNvSpPr/>
          <p:nvPr/>
        </p:nvSpPr>
        <p:spPr>
          <a:xfrm>
            <a:off x="982861" y="4039810"/>
            <a:ext cx="2503051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400" b="1" dirty="0" err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Beispiel</a:t>
            </a:r>
            <a:endParaRPr lang="en-US" sz="2400" dirty="0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2863DA0C-AA7C-5257-C20F-9B26BF8C7027}"/>
              </a:ext>
            </a:extLst>
          </p:cNvPr>
          <p:cNvSpPr/>
          <p:nvPr/>
        </p:nvSpPr>
        <p:spPr>
          <a:xfrm>
            <a:off x="982861" y="4472702"/>
            <a:ext cx="7270432" cy="3325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de-DE" sz="1400" dirty="0" err="1"/>
              <a:t>class</a:t>
            </a:r>
            <a:r>
              <a:rPr lang="de-DE" sz="1400" dirty="0"/>
              <a:t> Fahrzeug {</a:t>
            </a:r>
          </a:p>
          <a:p>
            <a:r>
              <a:rPr lang="de-DE" sz="1400" dirty="0"/>
              <a:t>    </a:t>
            </a:r>
            <a:r>
              <a:rPr lang="de-DE" sz="1400" dirty="0" err="1"/>
              <a:t>public</a:t>
            </a:r>
            <a:r>
              <a:rPr lang="de-DE" sz="1400" dirty="0"/>
              <a:t> </a:t>
            </a:r>
            <a:r>
              <a:rPr lang="de-DE" sz="1400" dirty="0" err="1"/>
              <a:t>int</a:t>
            </a:r>
            <a:r>
              <a:rPr lang="de-DE" sz="1400" dirty="0"/>
              <a:t> </a:t>
            </a:r>
            <a:r>
              <a:rPr lang="de-DE" sz="1400" dirty="0" err="1"/>
              <a:t>geschwindigkeit</a:t>
            </a:r>
            <a:r>
              <a:rPr lang="de-DE" sz="1400" dirty="0"/>
              <a:t>;</a:t>
            </a:r>
          </a:p>
          <a:p>
            <a:r>
              <a:rPr lang="de-DE" sz="1400" dirty="0"/>
              <a:t>    </a:t>
            </a:r>
            <a:r>
              <a:rPr lang="de-DE" sz="1400" dirty="0" err="1"/>
              <a:t>public</a:t>
            </a:r>
            <a:r>
              <a:rPr lang="de-DE" sz="1400" dirty="0"/>
              <a:t> </a:t>
            </a:r>
            <a:r>
              <a:rPr lang="de-DE" sz="1400" dirty="0" err="1"/>
              <a:t>int</a:t>
            </a:r>
            <a:r>
              <a:rPr lang="de-DE" sz="1400" dirty="0"/>
              <a:t> </a:t>
            </a:r>
            <a:r>
              <a:rPr lang="de-DE" sz="1400" dirty="0" err="1"/>
              <a:t>haltbarkeit</a:t>
            </a:r>
            <a:r>
              <a:rPr lang="de-DE" sz="1400" dirty="0"/>
              <a:t>;</a:t>
            </a:r>
          </a:p>
          <a:p>
            <a:r>
              <a:rPr lang="de-DE" sz="1400" dirty="0"/>
              <a:t>    </a:t>
            </a:r>
            <a:r>
              <a:rPr lang="de-DE" sz="1400" dirty="0" err="1"/>
              <a:t>public</a:t>
            </a:r>
            <a:r>
              <a:rPr lang="de-DE" sz="1400" dirty="0"/>
              <a:t> </a:t>
            </a:r>
            <a:r>
              <a:rPr lang="de-DE" sz="1400" dirty="0" err="1"/>
              <a:t>int</a:t>
            </a:r>
            <a:r>
              <a:rPr lang="de-DE" sz="1400" dirty="0"/>
              <a:t> </a:t>
            </a:r>
            <a:r>
              <a:rPr lang="de-DE" sz="1400" dirty="0" err="1"/>
              <a:t>raederanzahl</a:t>
            </a:r>
            <a:r>
              <a:rPr lang="de-DE" sz="1400" dirty="0"/>
              <a:t>;</a:t>
            </a:r>
          </a:p>
          <a:p>
            <a:r>
              <a:rPr lang="de-DE" sz="1400" dirty="0"/>
              <a:t>    </a:t>
            </a:r>
            <a:r>
              <a:rPr lang="de-DE" sz="1400" dirty="0" err="1"/>
              <a:t>public</a:t>
            </a:r>
            <a:r>
              <a:rPr lang="de-DE" sz="1400" dirty="0"/>
              <a:t> </a:t>
            </a:r>
            <a:r>
              <a:rPr lang="de-DE" sz="1400" dirty="0" err="1"/>
              <a:t>void</a:t>
            </a:r>
            <a:r>
              <a:rPr lang="de-DE" sz="1400" dirty="0"/>
              <a:t> Fahren() </a:t>
            </a:r>
          </a:p>
          <a:p>
            <a:r>
              <a:rPr lang="de-DE" sz="1400" dirty="0"/>
              <a:t>   {</a:t>
            </a:r>
          </a:p>
          <a:p>
            <a:r>
              <a:rPr lang="de-DE" sz="1400" dirty="0"/>
              <a:t> </a:t>
            </a:r>
            <a:r>
              <a:rPr lang="de-DE" sz="1400" dirty="0" err="1"/>
              <a:t>geschwindigkeit</a:t>
            </a:r>
            <a:r>
              <a:rPr lang="de-DE" sz="1400" dirty="0"/>
              <a:t> = 50;</a:t>
            </a:r>
          </a:p>
          <a:p>
            <a:r>
              <a:rPr lang="de-DE" sz="1400" dirty="0"/>
              <a:t>   }</a:t>
            </a:r>
          </a:p>
          <a:p>
            <a:r>
              <a:rPr lang="de-DE" sz="1400" dirty="0"/>
              <a:t>    </a:t>
            </a:r>
            <a:r>
              <a:rPr lang="de-DE" sz="1400" dirty="0" err="1"/>
              <a:t>public</a:t>
            </a:r>
            <a:r>
              <a:rPr lang="de-DE" sz="1400" dirty="0"/>
              <a:t> </a:t>
            </a:r>
            <a:r>
              <a:rPr lang="de-DE" sz="1400" dirty="0" err="1"/>
              <a:t>void</a:t>
            </a:r>
            <a:r>
              <a:rPr lang="de-DE" sz="1400" dirty="0"/>
              <a:t> Crash()</a:t>
            </a:r>
          </a:p>
          <a:p>
            <a:r>
              <a:rPr lang="de-DE" sz="1400" dirty="0"/>
              <a:t> {</a:t>
            </a:r>
          </a:p>
          <a:p>
            <a:r>
              <a:rPr lang="de-DE" sz="1400" dirty="0" err="1"/>
              <a:t>haltbarkeit</a:t>
            </a:r>
            <a:r>
              <a:rPr lang="de-DE" sz="1400" dirty="0"/>
              <a:t> = 0;</a:t>
            </a:r>
          </a:p>
          <a:p>
            <a:r>
              <a:rPr lang="de-DE" sz="1400" dirty="0"/>
              <a:t>  }</a:t>
            </a:r>
          </a:p>
          <a:p>
            <a:r>
              <a:rPr lang="de-DE" sz="1400" dirty="0"/>
              <a:t>}</a:t>
            </a:r>
          </a:p>
        </p:txBody>
      </p:sp>
      <p:pic>
        <p:nvPicPr>
          <p:cNvPr id="4098" name="Picture 2" descr="silhouette of hands on architectural drawing - bauplan stock-fotos und bilder">
            <a:extLst>
              <a:ext uri="{FF2B5EF4-FFF2-40B4-BE49-F238E27FC236}">
                <a16:creationId xmlns:a16="http://schemas.microsoft.com/office/drawing/2014/main" id="{BB48C691-7033-7A03-456A-D0A3E69A1E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5445" y="-1"/>
            <a:ext cx="5527343" cy="8331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7433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B31EC-B367-9BFE-83CA-49894214F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153B1F23-CB98-5C15-97EE-EED61AC01D77}"/>
              </a:ext>
            </a:extLst>
          </p:cNvPr>
          <p:cNvSpPr/>
          <p:nvPr/>
        </p:nvSpPr>
        <p:spPr>
          <a:xfrm>
            <a:off x="834719" y="1047691"/>
            <a:ext cx="7556421" cy="676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6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Was </a:t>
            </a:r>
            <a:r>
              <a:rPr lang="en-US" sz="3600" b="1" dirty="0" err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ist</a:t>
            </a:r>
            <a:r>
              <a:rPr lang="en-US" sz="36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</a:t>
            </a:r>
            <a:r>
              <a:rPr lang="en-US" sz="3600" b="1" dirty="0" err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ein</a:t>
            </a:r>
            <a:r>
              <a:rPr lang="en-US" sz="36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</a:t>
            </a:r>
            <a:r>
              <a:rPr lang="en-US" sz="3600" b="1" dirty="0" err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Objekt</a:t>
            </a:r>
            <a:r>
              <a:rPr lang="en-US" sz="36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?</a:t>
            </a: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4FC1A811-EA29-03BC-2744-04587A3EF77E}"/>
              </a:ext>
            </a:extLst>
          </p:cNvPr>
          <p:cNvSpPr/>
          <p:nvPr/>
        </p:nvSpPr>
        <p:spPr>
          <a:xfrm>
            <a:off x="1096246" y="2000628"/>
            <a:ext cx="5522918" cy="346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Ein </a:t>
            </a:r>
            <a:r>
              <a:rPr lang="en-US" b="1" dirty="0" err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Objekt</a:t>
            </a:r>
            <a:r>
              <a:rPr lang="en-US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</a:t>
            </a:r>
            <a:r>
              <a:rPr lang="en-US" b="1" dirty="0" err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ist</a:t>
            </a:r>
            <a:r>
              <a:rPr lang="en-US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</a:t>
            </a:r>
            <a:r>
              <a:rPr lang="en-US" b="1" dirty="0" err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ein</a:t>
            </a:r>
            <a:r>
              <a:rPr lang="en-US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Exemplar </a:t>
            </a:r>
            <a:r>
              <a:rPr lang="en-US" b="1" dirty="0" err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einer</a:t>
            </a:r>
            <a:r>
              <a:rPr lang="en-US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Klasse.</a:t>
            </a: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FECCAF45-6529-366A-E6EE-07BE0A8226E3}"/>
              </a:ext>
            </a:extLst>
          </p:cNvPr>
          <p:cNvSpPr/>
          <p:nvPr/>
        </p:nvSpPr>
        <p:spPr>
          <a:xfrm>
            <a:off x="1096246" y="3111958"/>
            <a:ext cx="3253145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Es </a:t>
            </a:r>
            <a:r>
              <a:rPr lang="en-US" b="1" dirty="0" err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besitzt</a:t>
            </a:r>
            <a:r>
              <a:rPr lang="en-US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</a:t>
            </a:r>
            <a:r>
              <a:rPr lang="en-US" b="1" dirty="0" err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eigene</a:t>
            </a:r>
            <a:r>
              <a:rPr lang="en-US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</a:t>
            </a:r>
            <a:r>
              <a:rPr lang="en-US" b="1" dirty="0" err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Werte</a:t>
            </a:r>
            <a:r>
              <a:rPr lang="en-US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(Attribute) und </a:t>
            </a:r>
            <a:r>
              <a:rPr lang="en-US" b="1" dirty="0" err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kann</a:t>
            </a:r>
            <a:r>
              <a:rPr lang="en-US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</a:t>
            </a:r>
            <a:r>
              <a:rPr lang="en-US" b="1" dirty="0" err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handeln</a:t>
            </a:r>
            <a:r>
              <a:rPr lang="en-US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(</a:t>
            </a:r>
            <a:r>
              <a:rPr lang="en-US" b="1" dirty="0" err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Methoden</a:t>
            </a:r>
            <a:r>
              <a:rPr lang="en-US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).</a:t>
            </a:r>
          </a:p>
          <a:p>
            <a:pPr marL="0" indent="0" algn="l">
              <a:lnSpc>
                <a:spcPts val="1950"/>
              </a:lnSpc>
              <a:buNone/>
            </a:pPr>
            <a:endParaRPr lang="en-US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F324F73F-42DF-37CF-EF1F-67890A6778E5}"/>
              </a:ext>
            </a:extLst>
          </p:cNvPr>
          <p:cNvSpPr/>
          <p:nvPr/>
        </p:nvSpPr>
        <p:spPr>
          <a:xfrm>
            <a:off x="1387272" y="4195992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b="1" dirty="0" err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Beispiel</a:t>
            </a:r>
            <a:r>
              <a:rPr lang="en-US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:</a:t>
            </a:r>
            <a:endParaRPr lang="en-US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A4B58DB7-DD7C-0A21-119C-4548D397B22C}"/>
              </a:ext>
            </a:extLst>
          </p:cNvPr>
          <p:cNvSpPr/>
          <p:nvPr/>
        </p:nvSpPr>
        <p:spPr>
          <a:xfrm>
            <a:off x="1387272" y="4539249"/>
            <a:ext cx="6762631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Ermöglicht das Aufrufen derselben Methode auf verschiedenen Objekttypen mit unterschiedlichem Ergebnis.</a:t>
            </a:r>
            <a:endParaRPr lang="en-US" sz="1600" dirty="0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3491298D-D07A-8D5F-B4F2-A505C0456F5A}"/>
              </a:ext>
            </a:extLst>
          </p:cNvPr>
          <p:cNvSpPr/>
          <p:nvPr/>
        </p:nvSpPr>
        <p:spPr>
          <a:xfrm>
            <a:off x="1096246" y="3807650"/>
            <a:ext cx="7648575" cy="2825162"/>
          </a:xfrm>
          <a:prstGeom prst="roundRect">
            <a:avLst>
              <a:gd name="adj" fmla="val 4099"/>
            </a:avLst>
          </a:prstGeom>
          <a:solidFill>
            <a:srgbClr val="D6F5EE"/>
          </a:solidFill>
          <a:ln w="7620">
            <a:solidFill>
              <a:srgbClr val="192248"/>
            </a:solidFill>
            <a:prstDash val="solid"/>
          </a:ln>
        </p:spPr>
        <p:txBody>
          <a:bodyPr/>
          <a:lstStyle/>
          <a:p>
            <a:endParaRPr lang="de-AT" dirty="0"/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BEF8FD52-D12B-CA37-D83C-AD79B0DA584C}"/>
              </a:ext>
            </a:extLst>
          </p:cNvPr>
          <p:cNvSpPr/>
          <p:nvPr/>
        </p:nvSpPr>
        <p:spPr>
          <a:xfrm>
            <a:off x="1273887" y="4012515"/>
            <a:ext cx="2503051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400" b="1" dirty="0" err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Beispiel</a:t>
            </a:r>
            <a:endParaRPr lang="en-US" sz="2400" dirty="0"/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0217514F-9CD2-1F7A-5613-A5734CA08D9D}"/>
              </a:ext>
            </a:extLst>
          </p:cNvPr>
          <p:cNvSpPr/>
          <p:nvPr/>
        </p:nvSpPr>
        <p:spPr>
          <a:xfrm>
            <a:off x="1387272" y="4891684"/>
            <a:ext cx="7270432" cy="1487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50"/>
              </a:lnSpc>
            </a:pPr>
            <a:r>
              <a:rPr lang="de-DE" sz="2000" dirty="0"/>
              <a:t>Fahrzeug </a:t>
            </a:r>
            <a:r>
              <a:rPr lang="de-DE" sz="2000" dirty="0" err="1"/>
              <a:t>meinFahrzeug</a:t>
            </a:r>
            <a:r>
              <a:rPr lang="de-DE" sz="2000" dirty="0"/>
              <a:t> = </a:t>
            </a:r>
            <a:r>
              <a:rPr lang="de-DE" sz="2000" dirty="0" err="1"/>
              <a:t>new</a:t>
            </a:r>
            <a:r>
              <a:rPr lang="de-DE" sz="2000" dirty="0"/>
              <a:t> Fahrzeug();</a:t>
            </a:r>
          </a:p>
          <a:p>
            <a:pPr>
              <a:lnSpc>
                <a:spcPts val="2250"/>
              </a:lnSpc>
            </a:pPr>
            <a:endParaRPr lang="de-DE" sz="2000" dirty="0"/>
          </a:p>
          <a:p>
            <a:pPr>
              <a:lnSpc>
                <a:spcPts val="2250"/>
              </a:lnSpc>
            </a:pPr>
            <a:r>
              <a:rPr lang="de-DE" sz="2000" dirty="0" err="1"/>
              <a:t>meinFahrzeug.Geschwindigkeit</a:t>
            </a:r>
            <a:r>
              <a:rPr lang="de-DE" sz="2000" dirty="0"/>
              <a:t> = 100;</a:t>
            </a:r>
          </a:p>
          <a:p>
            <a:pPr>
              <a:lnSpc>
                <a:spcPts val="2250"/>
              </a:lnSpc>
            </a:pPr>
            <a:r>
              <a:rPr lang="de-DE" sz="2000" dirty="0" err="1"/>
              <a:t>meinFahrzeug.Haltbarkeit</a:t>
            </a:r>
            <a:r>
              <a:rPr lang="de-DE" sz="2000" dirty="0"/>
              <a:t> = 100;</a:t>
            </a:r>
          </a:p>
          <a:p>
            <a:pPr>
              <a:lnSpc>
                <a:spcPts val="2250"/>
              </a:lnSpc>
            </a:pPr>
            <a:r>
              <a:rPr lang="de-DE" sz="2000" dirty="0" err="1"/>
              <a:t>meinFahrzeug.RaederAnzahl</a:t>
            </a:r>
            <a:r>
              <a:rPr lang="de-DE" sz="2000" dirty="0"/>
              <a:t> = 4;</a:t>
            </a:r>
          </a:p>
        </p:txBody>
      </p:sp>
    </p:spTree>
    <p:extLst>
      <p:ext uri="{BB962C8B-B14F-4D97-AF65-F5344CB8AC3E}">
        <p14:creationId xmlns:p14="http://schemas.microsoft.com/office/powerpoint/2010/main" val="17336790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79038"/>
            <a:ext cx="10425470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Säule 1: </a:t>
            </a:r>
            <a:r>
              <a:rPr lang="en-US" sz="3750" b="1" dirty="0" err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Kapselung</a:t>
            </a:r>
            <a:r>
              <a:rPr lang="en-US" sz="3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</a:t>
            </a:r>
            <a:endParaRPr lang="en-US" sz="3750" dirty="0"/>
          </a:p>
        </p:txBody>
      </p:sp>
      <p:sp>
        <p:nvSpPr>
          <p:cNvPr id="3" name="Shape 1"/>
          <p:cNvSpPr/>
          <p:nvPr/>
        </p:nvSpPr>
        <p:spPr>
          <a:xfrm>
            <a:off x="793790" y="1987510"/>
            <a:ext cx="6961823" cy="1541978"/>
          </a:xfrm>
          <a:prstGeom prst="roundRect">
            <a:avLst>
              <a:gd name="adj" fmla="val 7116"/>
            </a:avLst>
          </a:prstGeom>
          <a:solidFill>
            <a:srgbClr val="FFFFFF"/>
          </a:solidFill>
          <a:ln w="22860">
            <a:solidFill>
              <a:srgbClr val="BCDBD4"/>
            </a:solidFill>
            <a:prstDash val="solid"/>
          </a:ln>
        </p:spPr>
        <p:txBody>
          <a:bodyPr/>
          <a:lstStyle/>
          <a:p>
            <a:endParaRPr lang="de-AT" dirty="0"/>
          </a:p>
        </p:txBody>
      </p:sp>
      <p:sp>
        <p:nvSpPr>
          <p:cNvPr id="4" name="Shape 2"/>
          <p:cNvSpPr/>
          <p:nvPr/>
        </p:nvSpPr>
        <p:spPr>
          <a:xfrm>
            <a:off x="770930" y="1987510"/>
            <a:ext cx="91440" cy="1541978"/>
          </a:xfrm>
          <a:prstGeom prst="roundRect">
            <a:avLst>
              <a:gd name="adj" fmla="val 88558"/>
            </a:avLst>
          </a:prstGeom>
          <a:solidFill>
            <a:srgbClr val="26A688"/>
          </a:solidFill>
          <a:ln/>
        </p:spPr>
      </p:sp>
      <p:sp>
        <p:nvSpPr>
          <p:cNvPr id="5" name="Text 3"/>
          <p:cNvSpPr/>
          <p:nvPr/>
        </p:nvSpPr>
        <p:spPr>
          <a:xfrm>
            <a:off x="1077992" y="2203133"/>
            <a:ext cx="3952399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Daten schützen &amp; bündeln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1077992" y="2697123"/>
            <a:ext cx="6461998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Variablen</a:t>
            </a:r>
            <a:r>
              <a:rPr lang="en-US" sz="15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und </a:t>
            </a:r>
            <a:r>
              <a:rPr lang="en-US" sz="150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Methoden</a:t>
            </a:r>
            <a:r>
              <a:rPr lang="en-US" sz="15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50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werden</a:t>
            </a:r>
            <a:r>
              <a:rPr lang="en-US" sz="15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 einer Klasse zusammengefasst.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93790" y="3722251"/>
            <a:ext cx="6961823" cy="1541978"/>
          </a:xfrm>
          <a:prstGeom prst="roundRect">
            <a:avLst>
              <a:gd name="adj" fmla="val 7116"/>
            </a:avLst>
          </a:prstGeom>
          <a:solidFill>
            <a:srgbClr val="FFFFFF"/>
          </a:solidFill>
          <a:ln w="22860">
            <a:solidFill>
              <a:srgbClr val="BCDB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0930" y="3722251"/>
            <a:ext cx="91440" cy="1541978"/>
          </a:xfrm>
          <a:prstGeom prst="roundRect">
            <a:avLst>
              <a:gd name="adj" fmla="val 88558"/>
            </a:avLst>
          </a:prstGeom>
          <a:solidFill>
            <a:srgbClr val="26A688"/>
          </a:solidFill>
          <a:ln/>
        </p:spPr>
      </p:sp>
      <p:sp>
        <p:nvSpPr>
          <p:cNvPr id="9" name="Text 7"/>
          <p:cNvSpPr/>
          <p:nvPr/>
        </p:nvSpPr>
        <p:spPr>
          <a:xfrm>
            <a:off x="1077992" y="3937873"/>
            <a:ext cx="3150513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Kontrollierter Zugriff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1077992" y="4431863"/>
            <a:ext cx="6461998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Interne Details bleiben verborgen (private </a:t>
            </a:r>
            <a:r>
              <a:rPr lang="en-US" sz="150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Variablen</a:t>
            </a:r>
            <a:r>
              <a:rPr lang="en-US" sz="15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); der Zugriff erfolgt nur über definierte, </a:t>
            </a:r>
            <a:r>
              <a:rPr lang="en-US" sz="150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öffentliche</a:t>
            </a:r>
            <a:r>
              <a:rPr lang="en-US" sz="15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50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Schnittstellen</a:t>
            </a:r>
            <a:r>
              <a:rPr lang="en-US" sz="15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</a:t>
            </a:r>
            <a:r>
              <a:rPr lang="en-US" sz="150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Methoden</a:t>
            </a:r>
            <a:r>
              <a:rPr lang="en-US" sz="15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).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82993" y="5481042"/>
            <a:ext cx="6672620" cy="616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Beispiel: Die Klasse </a:t>
            </a:r>
            <a:r>
              <a:rPr lang="en-US" sz="1500" dirty="0">
                <a:solidFill>
                  <a:srgbClr val="26A6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BankAccount</a:t>
            </a:r>
            <a:r>
              <a:rPr lang="en-US" sz="15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schützt das private Feld “balance" und erlaubt nur Zugriff über die </a:t>
            </a:r>
            <a:r>
              <a:rPr lang="en-US" sz="150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Methoden</a:t>
            </a:r>
            <a:r>
              <a:rPr lang="en-US" sz="15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500" dirty="0">
                <a:solidFill>
                  <a:srgbClr val="26A6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Deposit()</a:t>
            </a:r>
            <a:r>
              <a:rPr lang="en-US" sz="15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und </a:t>
            </a:r>
            <a:r>
              <a:rPr lang="en-US" sz="1500" dirty="0" err="1">
                <a:solidFill>
                  <a:srgbClr val="26A6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GetBalance</a:t>
            </a:r>
            <a:r>
              <a:rPr lang="en-US" sz="1500" dirty="0">
                <a:solidFill>
                  <a:srgbClr val="26A68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()</a:t>
            </a:r>
            <a:r>
              <a:rPr lang="en-US" sz="15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93790" y="5481042"/>
            <a:ext cx="22860" cy="616744"/>
          </a:xfrm>
          <a:prstGeom prst="rect">
            <a:avLst/>
          </a:prstGeom>
          <a:solidFill>
            <a:srgbClr val="26A688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3529" y="1987510"/>
            <a:ext cx="4768929" cy="2956679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793790" y="6531412"/>
            <a:ext cx="13042821" cy="819031"/>
          </a:xfrm>
          <a:prstGeom prst="roundRect">
            <a:avLst>
              <a:gd name="adj" fmla="val 9887"/>
            </a:avLst>
          </a:prstGeom>
          <a:solidFill>
            <a:srgbClr val="C1F1E5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552" y="6832163"/>
            <a:ext cx="240983" cy="19276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420297" y="6772275"/>
            <a:ext cx="12223552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Vorteil:</a:t>
            </a:r>
            <a:r>
              <a:rPr lang="en-US" sz="15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Gewährleistung der Datenintegrität und Reduzierung von Fehlern durch kontrollierten Zugriff auf den internen Zustand.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93D7E-3322-2953-3A4E-7E618E0BA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17E7BB7C-140D-860D-4E6A-AFD837114DA2}"/>
              </a:ext>
            </a:extLst>
          </p:cNvPr>
          <p:cNvSpPr/>
          <p:nvPr/>
        </p:nvSpPr>
        <p:spPr>
          <a:xfrm>
            <a:off x="6280190" y="1367292"/>
            <a:ext cx="8067712" cy="13694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300" b="1" dirty="0" err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Zugriffsmodifikatoren</a:t>
            </a:r>
            <a:endParaRPr lang="en-US" sz="4300" dirty="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0D817F62-0753-84F6-10D0-7C02293A7D02}"/>
              </a:ext>
            </a:extLst>
          </p:cNvPr>
          <p:cNvSpPr/>
          <p:nvPr/>
        </p:nvSpPr>
        <p:spPr>
          <a:xfrm>
            <a:off x="6280190" y="2517676"/>
            <a:ext cx="635079" cy="952619"/>
          </a:xfrm>
          <a:prstGeom prst="roundRect">
            <a:avLst>
              <a:gd name="adj" fmla="val 360023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D371D6D-723D-A11C-A252-20AD88451D23}"/>
              </a:ext>
            </a:extLst>
          </p:cNvPr>
          <p:cNvSpPr/>
          <p:nvPr/>
        </p:nvSpPr>
        <p:spPr>
          <a:xfrm>
            <a:off x="6478667" y="2845098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1</a:t>
            </a:r>
            <a:endParaRPr lang="en-US" sz="185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3BA18637-C2C5-E1B8-DCF3-115E81FF3E4C}"/>
              </a:ext>
            </a:extLst>
          </p:cNvPr>
          <p:cNvSpPr/>
          <p:nvPr/>
        </p:nvSpPr>
        <p:spPr>
          <a:xfrm>
            <a:off x="7073979" y="2676386"/>
            <a:ext cx="2714982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Private</a:t>
            </a:r>
            <a:endParaRPr lang="en-US" sz="155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F7E5FF66-A46F-F8BA-822A-A9F52F98E550}"/>
              </a:ext>
            </a:extLst>
          </p:cNvPr>
          <p:cNvSpPr/>
          <p:nvPr/>
        </p:nvSpPr>
        <p:spPr>
          <a:xfrm>
            <a:off x="7073979" y="3019644"/>
            <a:ext cx="676263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Nur </a:t>
            </a:r>
            <a:r>
              <a:rPr lang="en-US" sz="125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innerhalb</a:t>
            </a: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der </a:t>
            </a:r>
            <a:r>
              <a:rPr lang="en-US" sz="125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Klasse</a:t>
            </a: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endParaRPr lang="en-US" sz="125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BBF68E15-364C-03AB-5329-BAB6F14CA96B}"/>
              </a:ext>
            </a:extLst>
          </p:cNvPr>
          <p:cNvSpPr/>
          <p:nvPr/>
        </p:nvSpPr>
        <p:spPr>
          <a:xfrm>
            <a:off x="6280190" y="3629006"/>
            <a:ext cx="635079" cy="952619"/>
          </a:xfrm>
          <a:prstGeom prst="roundRect">
            <a:avLst>
              <a:gd name="adj" fmla="val 360023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CAC63D7B-FFC3-5034-13C1-30597BB87837}"/>
              </a:ext>
            </a:extLst>
          </p:cNvPr>
          <p:cNvSpPr/>
          <p:nvPr/>
        </p:nvSpPr>
        <p:spPr>
          <a:xfrm>
            <a:off x="6478667" y="3956427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2</a:t>
            </a:r>
            <a:endParaRPr lang="en-US" sz="185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227C566B-D7A3-2F9B-B400-A8DAB8853364}"/>
              </a:ext>
            </a:extLst>
          </p:cNvPr>
          <p:cNvSpPr/>
          <p:nvPr/>
        </p:nvSpPr>
        <p:spPr>
          <a:xfrm>
            <a:off x="7073979" y="3787716"/>
            <a:ext cx="3253145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Public</a:t>
            </a:r>
            <a:endParaRPr lang="en-US" sz="155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D678D6F9-230F-4C05-53F6-390CEDDE36C6}"/>
              </a:ext>
            </a:extLst>
          </p:cNvPr>
          <p:cNvSpPr/>
          <p:nvPr/>
        </p:nvSpPr>
        <p:spPr>
          <a:xfrm>
            <a:off x="7073979" y="4130973"/>
            <a:ext cx="676263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Von </a:t>
            </a:r>
            <a:r>
              <a:rPr lang="en-US" sz="125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überall</a:t>
            </a: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25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zugänglich</a:t>
            </a:r>
            <a:endParaRPr lang="en-US" sz="1250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3EA2DCD9-512E-1F5A-AC91-131734D84FF7}"/>
              </a:ext>
            </a:extLst>
          </p:cNvPr>
          <p:cNvSpPr/>
          <p:nvPr/>
        </p:nvSpPr>
        <p:spPr>
          <a:xfrm>
            <a:off x="6280190" y="4740335"/>
            <a:ext cx="635079" cy="1168837"/>
          </a:xfrm>
          <a:prstGeom prst="roundRect">
            <a:avLst>
              <a:gd name="adj" fmla="val 360023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6E318E17-F3D6-7C5C-CF54-B6F46C6A9806}"/>
              </a:ext>
            </a:extLst>
          </p:cNvPr>
          <p:cNvSpPr/>
          <p:nvPr/>
        </p:nvSpPr>
        <p:spPr>
          <a:xfrm>
            <a:off x="6478667" y="5175866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8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3</a:t>
            </a:r>
            <a:endParaRPr lang="en-US" sz="185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D3234D9C-C4C3-9BFD-CC0E-022A7AAD1749}"/>
              </a:ext>
            </a:extLst>
          </p:cNvPr>
          <p:cNvSpPr/>
          <p:nvPr/>
        </p:nvSpPr>
        <p:spPr>
          <a:xfrm>
            <a:off x="7073979" y="4899045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Protected</a:t>
            </a:r>
            <a:endParaRPr lang="en-US" sz="155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19F7E970-F369-FE01-98C4-FB191ABEB30A}"/>
              </a:ext>
            </a:extLst>
          </p:cNvPr>
          <p:cNvSpPr/>
          <p:nvPr/>
        </p:nvSpPr>
        <p:spPr>
          <a:xfrm>
            <a:off x="7073979" y="5242302"/>
            <a:ext cx="6762631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Innerhalb</a:t>
            </a: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der Klasse + </a:t>
            </a:r>
            <a:r>
              <a:rPr lang="en-US" sz="125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Unterklassen</a:t>
            </a:r>
            <a:endParaRPr lang="en-US" sz="125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6FC0306C-B367-A43E-39CC-E8BA7094F3D0}"/>
              </a:ext>
            </a:extLst>
          </p:cNvPr>
          <p:cNvSpPr/>
          <p:nvPr/>
        </p:nvSpPr>
        <p:spPr>
          <a:xfrm>
            <a:off x="6280190" y="6623021"/>
            <a:ext cx="755642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get; + set; = </a:t>
            </a:r>
            <a:r>
              <a:rPr lang="en-US" sz="125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Kontrollierter</a:t>
            </a: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25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Zugriff</a:t>
            </a:r>
            <a:r>
              <a:rPr lang="en-US" sz="12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auf Private Felder.</a:t>
            </a:r>
            <a:endParaRPr lang="en-US" sz="125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84C3EA9-3678-41E0-19AE-1F8662544D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27" t="-1478" r="26285" b="-1"/>
          <a:stretch>
            <a:fillRect/>
          </a:stretch>
        </p:blipFill>
        <p:spPr bwMode="auto">
          <a:xfrm>
            <a:off x="-352695" y="-185971"/>
            <a:ext cx="5567423" cy="8443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7902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26194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1647" y="2885837"/>
            <a:ext cx="8997077" cy="565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Säule 2: </a:t>
            </a:r>
            <a:r>
              <a:rPr lang="en-US" sz="3550" b="1" dirty="0" err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Vererbung</a:t>
            </a:r>
            <a:endParaRPr lang="en-US" sz="35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647" y="3722727"/>
            <a:ext cx="4348996" cy="72378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72503" y="4627364"/>
            <a:ext cx="2261949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Basisklasse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972503" y="5018603"/>
            <a:ext cx="3987284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Definiert gemeinsame Eigenschaften und Methoden (z.B. </a:t>
            </a:r>
            <a:r>
              <a:rPr lang="en-US" sz="14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Animal</a:t>
            </a: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).</a:t>
            </a:r>
            <a:endParaRPr lang="en-US" sz="14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0643" y="3722727"/>
            <a:ext cx="4348996" cy="72378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321498" y="4627364"/>
            <a:ext cx="2261949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Erben</a:t>
            </a:r>
            <a:endParaRPr lang="en-US" sz="1750" dirty="0"/>
          </a:p>
        </p:txBody>
      </p:sp>
      <p:sp>
        <p:nvSpPr>
          <p:cNvPr id="9" name="Text 4"/>
          <p:cNvSpPr/>
          <p:nvPr/>
        </p:nvSpPr>
        <p:spPr>
          <a:xfrm>
            <a:off x="5321498" y="5018603"/>
            <a:ext cx="3987284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Neue abgeleitete Klassen übernehmen Funktionalität der Basisklasse.</a:t>
            </a:r>
            <a:endParaRPr lang="en-US" sz="14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89638" y="3722727"/>
            <a:ext cx="4348996" cy="72378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670494" y="4627364"/>
            <a:ext cx="2261949" cy="282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Erweitern</a:t>
            </a:r>
            <a:endParaRPr lang="en-US" sz="1750" dirty="0"/>
          </a:p>
        </p:txBody>
      </p:sp>
      <p:sp>
        <p:nvSpPr>
          <p:cNvPr id="12" name="Text 6"/>
          <p:cNvSpPr/>
          <p:nvPr/>
        </p:nvSpPr>
        <p:spPr>
          <a:xfrm>
            <a:off x="9670494" y="5018603"/>
            <a:ext cx="39872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Abgeleitete Klassen fügen spezifisches Verhalten hinzu (z.B. </a:t>
            </a:r>
            <a:r>
              <a:rPr lang="en-US" sz="14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Dog</a:t>
            </a: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erbt und fügt </a:t>
            </a:r>
            <a:r>
              <a:rPr lang="en-US" sz="14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Bark()</a:t>
            </a: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hinzu).</a:t>
            </a:r>
            <a:endParaRPr lang="en-US" sz="1400" dirty="0"/>
          </a:p>
        </p:txBody>
      </p:sp>
      <p:sp>
        <p:nvSpPr>
          <p:cNvPr id="13" name="Text 7"/>
          <p:cNvSpPr/>
          <p:nvPr/>
        </p:nvSpPr>
        <p:spPr>
          <a:xfrm>
            <a:off x="791647" y="6271617"/>
            <a:ext cx="13047107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Vererbung schafft hierarchische Beziehungen und fördert die Code-Wiederverwendung.</a:t>
            </a:r>
            <a:endParaRPr lang="en-US" sz="1750" dirty="0"/>
          </a:p>
        </p:txBody>
      </p:sp>
      <p:sp>
        <p:nvSpPr>
          <p:cNvPr id="14" name="Shape 8"/>
          <p:cNvSpPr/>
          <p:nvPr/>
        </p:nvSpPr>
        <p:spPr>
          <a:xfrm>
            <a:off x="791647" y="6837045"/>
            <a:ext cx="13047107" cy="768668"/>
          </a:xfrm>
          <a:prstGeom prst="roundRect">
            <a:avLst>
              <a:gd name="adj" fmla="val 9888"/>
            </a:avLst>
          </a:prstGeom>
          <a:solidFill>
            <a:srgbClr val="C1F1E5"/>
          </a:solidFill>
          <a:ln/>
        </p:spPr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2503" y="7118033"/>
            <a:ext cx="226100" cy="18085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379458" y="7063026"/>
            <a:ext cx="12278439" cy="289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Ziel:</a:t>
            </a: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Code-</a:t>
            </a:r>
            <a:r>
              <a:rPr lang="en-US" sz="1400" dirty="0" err="1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Wartbarkeit</a:t>
            </a: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und Erweiterbarkeit verbessern.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835" y="311825"/>
            <a:ext cx="5978962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2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Vererbungshierarchie in C#: Ein praktisches Beispiel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8268" y="1641115"/>
            <a:ext cx="8993862" cy="466986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766103" y="3426677"/>
            <a:ext cx="1109844" cy="1175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Unbounded Bold" pitchFamily="34" charset="0"/>
              </a:rPr>
              <a:t>Animal</a:t>
            </a:r>
          </a:p>
          <a:p>
            <a:pPr marL="0" indent="0" algn="ctr">
              <a:lnSpc>
                <a:spcPts val="165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Unbounded Bold" pitchFamily="34" charset="0"/>
              </a:rPr>
              <a:t>(</a:t>
            </a:r>
            <a:r>
              <a:rPr lang="en-US" sz="1000" b="1" dirty="0" err="1">
                <a:solidFill>
                  <a:srgbClr val="FFFFFF"/>
                </a:solidFill>
                <a:latin typeface="Unbounded Bold" pitchFamily="34" charset="0"/>
              </a:rPr>
              <a:t>Basisklasse</a:t>
            </a:r>
            <a:r>
              <a:rPr lang="en-US" sz="1000" b="1" dirty="0">
                <a:solidFill>
                  <a:srgbClr val="FFFFFF"/>
                </a:solidFill>
                <a:latin typeface="Unbounded Bold" pitchFamily="34" charset="0"/>
              </a:rPr>
              <a:t>)</a:t>
            </a:r>
          </a:p>
          <a:p>
            <a:pPr marL="171450" indent="-171450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FFFFFF"/>
                </a:solidFill>
                <a:latin typeface="Unbounded Bold" pitchFamily="34" charset="0"/>
              </a:rPr>
              <a:t>Weight</a:t>
            </a:r>
          </a:p>
          <a:p>
            <a:pPr marL="171450" indent="-171450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FFFFFF"/>
                </a:solidFill>
                <a:latin typeface="Unbounded Bold" pitchFamily="34" charset="0"/>
              </a:rPr>
              <a:t>Size</a:t>
            </a:r>
          </a:p>
          <a:p>
            <a:pPr marL="171450" indent="-171450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000" b="1" dirty="0">
                <a:solidFill>
                  <a:srgbClr val="FFFFFF"/>
                </a:solidFill>
                <a:latin typeface="Unbounded Bold" pitchFamily="34" charset="0"/>
              </a:rPr>
              <a:t>Age</a:t>
            </a: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15017" y="2864541"/>
            <a:ext cx="225853" cy="22585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031038" y="2589855"/>
            <a:ext cx="1944447" cy="249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2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Dog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3031038" y="2910600"/>
            <a:ext cx="1944447" cy="199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Bark()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9654588" y="3655305"/>
            <a:ext cx="1944447" cy="249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2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Cat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9654588" y="3976050"/>
            <a:ext cx="1944447" cy="199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Meow(), Scratch(),</a:t>
            </a:r>
            <a:endParaRPr lang="en-US" sz="16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92190" y="3379509"/>
            <a:ext cx="225852" cy="225853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724352" y="4782352"/>
            <a:ext cx="225853" cy="22585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031038" y="4667483"/>
            <a:ext cx="1944447" cy="2497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2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Bird</a:t>
            </a:r>
            <a:endParaRPr lang="en-US" sz="2000" dirty="0"/>
          </a:p>
        </p:txBody>
      </p:sp>
      <p:sp>
        <p:nvSpPr>
          <p:cNvPr id="13" name="Text 7"/>
          <p:cNvSpPr/>
          <p:nvPr/>
        </p:nvSpPr>
        <p:spPr>
          <a:xfrm>
            <a:off x="3031038" y="4988228"/>
            <a:ext cx="1944447" cy="199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Fly()</a:t>
            </a:r>
            <a:endParaRPr lang="en-US" sz="1600" dirty="0"/>
          </a:p>
        </p:txBody>
      </p:sp>
      <p:sp>
        <p:nvSpPr>
          <p:cNvPr id="18" name="Shape 12"/>
          <p:cNvSpPr/>
          <p:nvPr/>
        </p:nvSpPr>
        <p:spPr>
          <a:xfrm>
            <a:off x="396835" y="15737681"/>
            <a:ext cx="13836729" cy="313015"/>
          </a:xfrm>
          <a:prstGeom prst="roundRect">
            <a:avLst>
              <a:gd name="adj" fmla="val 9892"/>
            </a:avLst>
          </a:prstGeom>
          <a:solidFill>
            <a:srgbClr val="C1F1E5"/>
          </a:solidFill>
          <a:ln/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0535" y="15849005"/>
            <a:ext cx="92035" cy="737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36270" y="15829717"/>
            <a:ext cx="13523595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Dieses Beispiel demonstriert, wie abgeleitete Klassen gemeinsame Verhaltensweisen von der Basisklasse erben und gleichzeitig ihre eigenen spezialisierten Methoden hinzufügen oder bestehende überschreiben können.</a:t>
            </a:r>
            <a:endParaRPr lang="en-US" sz="550" dirty="0"/>
          </a:p>
        </p:txBody>
      </p:sp>
      <p:sp>
        <p:nvSpPr>
          <p:cNvPr id="21" name="Text 2">
            <a:extLst>
              <a:ext uri="{FF2B5EF4-FFF2-40B4-BE49-F238E27FC236}">
                <a16:creationId xmlns:a16="http://schemas.microsoft.com/office/drawing/2014/main" id="{224D040B-3606-4714-917E-993B587A51AF}"/>
              </a:ext>
            </a:extLst>
          </p:cNvPr>
          <p:cNvSpPr/>
          <p:nvPr/>
        </p:nvSpPr>
        <p:spPr>
          <a:xfrm>
            <a:off x="470535" y="6646310"/>
            <a:ext cx="4146630" cy="810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Dog: </a:t>
            </a:r>
          </a:p>
          <a:p>
            <a:pPr marL="0" indent="0" algn="l">
              <a:lnSpc>
                <a:spcPts val="1650"/>
              </a:lnSpc>
              <a:buNone/>
            </a:pPr>
            <a:endParaRPr lang="en-US" sz="1600" b="1" dirty="0">
              <a:solidFill>
                <a:srgbClr val="333F70"/>
              </a:solidFill>
              <a:latin typeface="Unbounded Bold" pitchFamily="34" charset="0"/>
            </a:endParaRPr>
          </a:p>
          <a:p>
            <a:pPr marL="0" indent="0" algn="l">
              <a:lnSpc>
                <a:spcPts val="1650"/>
              </a:lnSpc>
              <a:buNone/>
            </a:pPr>
            <a:r>
              <a:rPr lang="en-US" sz="1600" b="1" dirty="0">
                <a:solidFill>
                  <a:srgbClr val="333F70"/>
                </a:solidFill>
                <a:latin typeface="Unbounded Bold" pitchFamily="34" charset="0"/>
              </a:rPr>
              <a:t>Weight, Size, Age + Bark()</a:t>
            </a:r>
          </a:p>
        </p:txBody>
      </p:sp>
      <p:sp>
        <p:nvSpPr>
          <p:cNvPr id="22" name="Text 2">
            <a:extLst>
              <a:ext uri="{FF2B5EF4-FFF2-40B4-BE49-F238E27FC236}">
                <a16:creationId xmlns:a16="http://schemas.microsoft.com/office/drawing/2014/main" id="{9E70AC2E-5EB4-45A0-9E1F-E7940E4F3418}"/>
              </a:ext>
            </a:extLst>
          </p:cNvPr>
          <p:cNvSpPr/>
          <p:nvPr/>
        </p:nvSpPr>
        <p:spPr>
          <a:xfrm>
            <a:off x="4926114" y="6646310"/>
            <a:ext cx="4146630" cy="810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Bird: </a:t>
            </a:r>
          </a:p>
          <a:p>
            <a:pPr marL="0" indent="0" algn="l">
              <a:lnSpc>
                <a:spcPts val="1650"/>
              </a:lnSpc>
              <a:buNone/>
            </a:pPr>
            <a:endParaRPr lang="en-US" sz="1600" b="1" dirty="0">
              <a:solidFill>
                <a:srgbClr val="333F70"/>
              </a:solidFill>
              <a:latin typeface="Unbounded Bold" pitchFamily="34" charset="0"/>
            </a:endParaRPr>
          </a:p>
          <a:p>
            <a:pPr marL="0" indent="0" algn="l">
              <a:lnSpc>
                <a:spcPts val="1650"/>
              </a:lnSpc>
              <a:buNone/>
            </a:pPr>
            <a:r>
              <a:rPr lang="en-US" sz="1600" b="1" dirty="0">
                <a:solidFill>
                  <a:srgbClr val="333F70"/>
                </a:solidFill>
                <a:latin typeface="Unbounded Bold" pitchFamily="34" charset="0"/>
              </a:rPr>
              <a:t>Weight, Size, Age + Fly()</a:t>
            </a:r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34452F64-B229-4CEB-BD0A-1ED4F01CBCFC}"/>
              </a:ext>
            </a:extLst>
          </p:cNvPr>
          <p:cNvSpPr/>
          <p:nvPr/>
        </p:nvSpPr>
        <p:spPr>
          <a:xfrm>
            <a:off x="9381692" y="6646310"/>
            <a:ext cx="4730135" cy="810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Cat: </a:t>
            </a:r>
          </a:p>
          <a:p>
            <a:pPr marL="0" indent="0" algn="l">
              <a:lnSpc>
                <a:spcPts val="1650"/>
              </a:lnSpc>
              <a:buNone/>
            </a:pPr>
            <a:endParaRPr lang="en-US" sz="1600" b="1" dirty="0">
              <a:solidFill>
                <a:srgbClr val="333F70"/>
              </a:solidFill>
              <a:latin typeface="Unbounded Bold" pitchFamily="34" charset="0"/>
            </a:endParaRPr>
          </a:p>
          <a:p>
            <a:pPr marL="0" indent="0" algn="l">
              <a:lnSpc>
                <a:spcPts val="1650"/>
              </a:lnSpc>
              <a:buNone/>
            </a:pPr>
            <a:r>
              <a:rPr lang="en-US" sz="1600" b="1" dirty="0">
                <a:solidFill>
                  <a:srgbClr val="333F70"/>
                </a:solidFill>
                <a:latin typeface="Unbounded Bold" pitchFamily="34" charset="0"/>
              </a:rPr>
              <a:t>Weight, Size, Age + Meow(), Scratch()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39259"/>
            <a:ext cx="9768245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6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Säule 3: </a:t>
            </a:r>
            <a:r>
              <a:rPr lang="en-US" sz="3600" b="1" dirty="0" err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Generalisierung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93790" y="1782485"/>
            <a:ext cx="7648575" cy="1859161"/>
          </a:xfrm>
          <a:prstGeom prst="roundRect">
            <a:avLst>
              <a:gd name="adj" fmla="val 4099"/>
            </a:avLst>
          </a:prstGeom>
          <a:solidFill>
            <a:srgbClr val="D6F5EE"/>
          </a:solidFill>
          <a:ln w="7620">
            <a:solidFill>
              <a:srgbClr val="192248"/>
            </a:solidFill>
            <a:prstDash val="solid"/>
          </a:ln>
        </p:spPr>
        <p:txBody>
          <a:bodyPr/>
          <a:lstStyle/>
          <a:p>
            <a:endParaRPr lang="de-AT" sz="2000" dirty="0"/>
          </a:p>
        </p:txBody>
      </p:sp>
      <p:sp>
        <p:nvSpPr>
          <p:cNvPr id="4" name="Shape 2"/>
          <p:cNvSpPr/>
          <p:nvPr/>
        </p:nvSpPr>
        <p:spPr>
          <a:xfrm>
            <a:off x="982861" y="1971556"/>
            <a:ext cx="544354" cy="544354"/>
          </a:xfrm>
          <a:prstGeom prst="roundRect">
            <a:avLst>
              <a:gd name="adj" fmla="val 16796213"/>
            </a:avLst>
          </a:prstGeom>
          <a:solidFill>
            <a:srgbClr val="192248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2523" y="2121218"/>
            <a:ext cx="244912" cy="244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82861" y="2674501"/>
            <a:ext cx="3470077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b="1" dirty="0" err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Wiederverwendung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982861" y="3030344"/>
            <a:ext cx="7270432" cy="583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Gemeinsame</a:t>
            </a: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60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Eigenschaften</a:t>
            </a: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60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können</a:t>
            </a: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60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mehrfach</a:t>
            </a: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60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genutzt</a:t>
            </a: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60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werden</a:t>
            </a: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60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ohne</a:t>
            </a: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60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sie</a:t>
            </a:r>
            <a:endParaRPr lang="en-US" sz="1600" dirty="0">
              <a:solidFill>
                <a:srgbClr val="333F70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0" indent="0" algn="l">
              <a:lnSpc>
                <a:spcPts val="2250"/>
              </a:lnSpc>
              <a:buNone/>
            </a:pPr>
            <a:r>
              <a:rPr lang="en-US" sz="160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erneut</a:t>
            </a: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60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zu</a:t>
            </a: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60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erstellen</a:t>
            </a: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93790" y="3823097"/>
            <a:ext cx="7648575" cy="1859161"/>
          </a:xfrm>
          <a:prstGeom prst="roundRect">
            <a:avLst>
              <a:gd name="adj" fmla="val 4099"/>
            </a:avLst>
          </a:prstGeom>
          <a:solidFill>
            <a:srgbClr val="D6F5EE"/>
          </a:solidFill>
          <a:ln w="7620">
            <a:solidFill>
              <a:srgbClr val="19224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82861" y="4012168"/>
            <a:ext cx="544354" cy="544354"/>
          </a:xfrm>
          <a:prstGeom prst="roundRect">
            <a:avLst>
              <a:gd name="adj" fmla="val 16796213"/>
            </a:avLst>
          </a:prstGeom>
          <a:solidFill>
            <a:srgbClr val="192248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2523" y="4161830"/>
            <a:ext cx="244912" cy="2449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82861" y="4737973"/>
            <a:ext cx="2503051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Klarheit schaffen</a:t>
            </a: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982861" y="5202912"/>
            <a:ext cx="7270432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Gemeinsame</a:t>
            </a: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60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Merkmale</a:t>
            </a: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60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werden</a:t>
            </a: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60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nur</a:t>
            </a: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60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einmal</a:t>
            </a: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60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definiert</a:t>
            </a: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982861" y="6002200"/>
            <a:ext cx="7376398" cy="3614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Beispiel</a:t>
            </a: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Auto, </a:t>
            </a:r>
            <a:r>
              <a:rPr lang="en-US" sz="160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Fahrrad</a:t>
            </a: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r>
              <a:rPr lang="en-US" sz="160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Motorrad</a:t>
            </a: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  <a:sym typeface="Wingdings" panose="05000000000000000000" pitchFamily="2" charset="2"/>
              </a:rPr>
              <a:t> </a:t>
            </a:r>
            <a:r>
              <a:rPr lang="en-US" sz="160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  <a:sym typeface="Wingdings" panose="05000000000000000000" pitchFamily="2" charset="2"/>
              </a:rPr>
              <a:t>Fahrzeug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793790" y="5886331"/>
            <a:ext cx="22860" cy="580549"/>
          </a:xfrm>
          <a:prstGeom prst="rect">
            <a:avLst/>
          </a:prstGeom>
          <a:solidFill>
            <a:srgbClr val="26A688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92659" y="1782485"/>
            <a:ext cx="3961090" cy="2639973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793790" y="6965754"/>
            <a:ext cx="13042821" cy="30242"/>
          </a:xfrm>
          <a:prstGeom prst="rect">
            <a:avLst/>
          </a:prstGeom>
          <a:solidFill>
            <a:srgbClr val="333F70">
              <a:alpha val="50000"/>
            </a:srgbClr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89" y="1047690"/>
            <a:ext cx="9495070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6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Säule 4: </a:t>
            </a:r>
            <a:r>
              <a:rPr lang="en-US" sz="3600" b="1" dirty="0" err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Polymorphismus</a:t>
            </a:r>
            <a:r>
              <a:rPr lang="en-US" sz="36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 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6280190" y="2342968"/>
            <a:ext cx="635079" cy="952619"/>
          </a:xfrm>
          <a:prstGeom prst="roundRect">
            <a:avLst>
              <a:gd name="adj" fmla="val 360023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78667" y="2670390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2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073979" y="2501678"/>
            <a:ext cx="2714982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Methodenüberladung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7073979" y="2844936"/>
            <a:ext cx="676263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Mehrere Methoden mit gleichem Namen, aber unterschiedlichen Parametern.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280190" y="3454298"/>
            <a:ext cx="635079" cy="952619"/>
          </a:xfrm>
          <a:prstGeom prst="roundRect">
            <a:avLst>
              <a:gd name="adj" fmla="val 360023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78667" y="3781719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2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7073979" y="3613008"/>
            <a:ext cx="3253145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Methodenüberschreibung</a:t>
            </a: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7073979" y="3956265"/>
            <a:ext cx="676263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Abgeleitete Klassen überschreiben die </a:t>
            </a:r>
            <a:r>
              <a:rPr lang="en-US" sz="160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Implementierung</a:t>
            </a: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60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einer</a:t>
            </a:r>
            <a:endParaRPr lang="en-US" sz="1600" dirty="0">
              <a:solidFill>
                <a:srgbClr val="333F70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0" indent="0" algn="l">
              <a:lnSpc>
                <a:spcPts val="2000"/>
              </a:lnSpc>
              <a:buNone/>
            </a:pPr>
            <a:r>
              <a:rPr lang="en-US" sz="160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geerbten</a:t>
            </a: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Methode.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280190" y="4565627"/>
            <a:ext cx="635079" cy="1168837"/>
          </a:xfrm>
          <a:prstGeom prst="roundRect">
            <a:avLst>
              <a:gd name="adj" fmla="val 360023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78667" y="5001158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2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7073979" y="4724337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Flexibilität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7073979" y="5067594"/>
            <a:ext cx="6762631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Ermöglicht das Aufrufen derselben Methode auf verschiedenen Objekttypen mit unterschiedlichem Ergebnis.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37711"/>
            <a:ext cx="11166396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Zusammenfassung: Warum OOP in C#?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166758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Die vier Säulen in der Praxis.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303770" y="2234565"/>
            <a:ext cx="22860" cy="4354830"/>
          </a:xfrm>
          <a:prstGeom prst="roundRect">
            <a:avLst>
              <a:gd name="adj" fmla="val 333395"/>
            </a:avLst>
          </a:prstGeom>
          <a:solidFill>
            <a:srgbClr val="BCDBD4"/>
          </a:solidFill>
          <a:ln/>
        </p:spPr>
      </p:sp>
      <p:sp>
        <p:nvSpPr>
          <p:cNvPr id="5" name="Shape 3"/>
          <p:cNvSpPr/>
          <p:nvPr/>
        </p:nvSpPr>
        <p:spPr>
          <a:xfrm>
            <a:off x="6793706" y="2948940"/>
            <a:ext cx="544354" cy="22860"/>
          </a:xfrm>
          <a:prstGeom prst="roundRect">
            <a:avLst>
              <a:gd name="adj" fmla="val 333395"/>
            </a:avLst>
          </a:prstGeom>
          <a:solidFill>
            <a:srgbClr val="BCDBD4"/>
          </a:solidFill>
          <a:ln/>
        </p:spPr>
      </p:sp>
      <p:sp>
        <p:nvSpPr>
          <p:cNvPr id="6" name="Shape 4"/>
          <p:cNvSpPr/>
          <p:nvPr/>
        </p:nvSpPr>
        <p:spPr>
          <a:xfrm>
            <a:off x="7247156" y="2892326"/>
            <a:ext cx="136088" cy="136088"/>
          </a:xfrm>
          <a:prstGeom prst="roundRect">
            <a:avLst>
              <a:gd name="adj" fmla="val 335959"/>
            </a:avLst>
          </a:prstGeom>
          <a:solidFill>
            <a:srgbClr val="26A688"/>
          </a:solidFill>
          <a:ln/>
        </p:spPr>
      </p:sp>
      <p:sp>
        <p:nvSpPr>
          <p:cNvPr id="7" name="Shape 5"/>
          <p:cNvSpPr/>
          <p:nvPr/>
        </p:nvSpPr>
        <p:spPr>
          <a:xfrm>
            <a:off x="793790" y="2234565"/>
            <a:ext cx="5977057" cy="1451610"/>
          </a:xfrm>
          <a:prstGeom prst="roundRect">
            <a:avLst>
              <a:gd name="adj" fmla="val 5250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13515" y="2423636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Kapselung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82861" y="2815947"/>
            <a:ext cx="5598914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5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Schützt interne Kontodaten.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292340" y="4037648"/>
            <a:ext cx="544354" cy="22860"/>
          </a:xfrm>
          <a:prstGeom prst="roundRect">
            <a:avLst>
              <a:gd name="adj" fmla="val 333395"/>
            </a:avLst>
          </a:prstGeom>
          <a:solidFill>
            <a:srgbClr val="BCDBD4"/>
          </a:solidFill>
          <a:ln/>
        </p:spPr>
      </p:sp>
      <p:sp>
        <p:nvSpPr>
          <p:cNvPr id="11" name="Shape 9"/>
          <p:cNvSpPr/>
          <p:nvPr/>
        </p:nvSpPr>
        <p:spPr>
          <a:xfrm>
            <a:off x="7247156" y="3981033"/>
            <a:ext cx="136088" cy="136088"/>
          </a:xfrm>
          <a:prstGeom prst="roundRect">
            <a:avLst>
              <a:gd name="adj" fmla="val 335959"/>
            </a:avLst>
          </a:prstGeom>
          <a:solidFill>
            <a:srgbClr val="26A688"/>
          </a:solidFill>
          <a:ln/>
        </p:spPr>
      </p:sp>
      <p:sp>
        <p:nvSpPr>
          <p:cNvPr id="12" name="Shape 10"/>
          <p:cNvSpPr/>
          <p:nvPr/>
        </p:nvSpPr>
        <p:spPr>
          <a:xfrm>
            <a:off x="7859554" y="3323273"/>
            <a:ext cx="5977057" cy="1451610"/>
          </a:xfrm>
          <a:prstGeom prst="roundRect">
            <a:avLst>
              <a:gd name="adj" fmla="val 5250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8625" y="3512344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Vererbung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8048625" y="3904655"/>
            <a:ext cx="5598914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Erzeugt verschiedene Kontotypen (Sparkonto, Girokonto) basierend auf einer gemeinsamen Basisklasse.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793706" y="4944904"/>
            <a:ext cx="544354" cy="22860"/>
          </a:xfrm>
          <a:prstGeom prst="roundRect">
            <a:avLst>
              <a:gd name="adj" fmla="val 333395"/>
            </a:avLst>
          </a:prstGeom>
          <a:solidFill>
            <a:srgbClr val="BCDBD4"/>
          </a:solidFill>
          <a:ln/>
        </p:spPr>
      </p:sp>
      <p:sp>
        <p:nvSpPr>
          <p:cNvPr id="16" name="Shape 14"/>
          <p:cNvSpPr/>
          <p:nvPr/>
        </p:nvSpPr>
        <p:spPr>
          <a:xfrm>
            <a:off x="7247156" y="4888290"/>
            <a:ext cx="136088" cy="136088"/>
          </a:xfrm>
          <a:prstGeom prst="roundRect">
            <a:avLst>
              <a:gd name="adj" fmla="val 335959"/>
            </a:avLst>
          </a:prstGeom>
          <a:solidFill>
            <a:srgbClr val="26A688"/>
          </a:solidFill>
          <a:ln/>
        </p:spPr>
      </p:sp>
      <p:sp>
        <p:nvSpPr>
          <p:cNvPr id="17" name="Shape 15"/>
          <p:cNvSpPr/>
          <p:nvPr/>
        </p:nvSpPr>
        <p:spPr>
          <a:xfrm>
            <a:off x="793790" y="4230529"/>
            <a:ext cx="5977057" cy="1451610"/>
          </a:xfrm>
          <a:prstGeom prst="roundRect">
            <a:avLst>
              <a:gd name="adj" fmla="val 5250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13515" y="4419600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lang="en-US" sz="1750" b="1" dirty="0" err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Generalisierung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982861" y="4811911"/>
            <a:ext cx="5598914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250"/>
              </a:lnSpc>
              <a:buNone/>
            </a:pPr>
            <a:r>
              <a:rPr lang="en-US" sz="140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Gemeinsame</a:t>
            </a: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40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Eigenschaften</a:t>
            </a: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40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bündeln</a:t>
            </a: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Code </a:t>
            </a:r>
            <a:r>
              <a:rPr lang="en-US" sz="140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wiederverwenden</a:t>
            </a: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r>
              <a:rPr lang="en-US" sz="140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Übersicht</a:t>
            </a: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r>
              <a:rPr lang="en-US" sz="1400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erhöhen</a:t>
            </a: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292340" y="5852160"/>
            <a:ext cx="544354" cy="22860"/>
          </a:xfrm>
          <a:prstGeom prst="roundRect">
            <a:avLst>
              <a:gd name="adj" fmla="val 333395"/>
            </a:avLst>
          </a:prstGeom>
          <a:solidFill>
            <a:srgbClr val="BCDBD4"/>
          </a:solidFill>
          <a:ln/>
        </p:spPr>
      </p:sp>
      <p:sp>
        <p:nvSpPr>
          <p:cNvPr id="21" name="Shape 19"/>
          <p:cNvSpPr/>
          <p:nvPr/>
        </p:nvSpPr>
        <p:spPr>
          <a:xfrm>
            <a:off x="7247156" y="5795546"/>
            <a:ext cx="136088" cy="136088"/>
          </a:xfrm>
          <a:prstGeom prst="roundRect">
            <a:avLst>
              <a:gd name="adj" fmla="val 335959"/>
            </a:avLst>
          </a:prstGeom>
          <a:solidFill>
            <a:srgbClr val="26A688"/>
          </a:solidFill>
          <a:ln/>
        </p:spPr>
      </p:sp>
      <p:sp>
        <p:nvSpPr>
          <p:cNvPr id="22" name="Shape 20"/>
          <p:cNvSpPr/>
          <p:nvPr/>
        </p:nvSpPr>
        <p:spPr>
          <a:xfrm>
            <a:off x="7859554" y="5137785"/>
            <a:ext cx="5977057" cy="1451610"/>
          </a:xfrm>
          <a:prstGeom prst="roundRect">
            <a:avLst>
              <a:gd name="adj" fmla="val 5250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8625" y="5326856"/>
            <a:ext cx="2408515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Polymorphismus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8048625" y="5719167"/>
            <a:ext cx="5598914" cy="580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Eine Methode </a:t>
            </a:r>
            <a:r>
              <a:rPr lang="en-US" sz="1400" b="1" dirty="0" err="1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ZinsenBerechnen</a:t>
            </a:r>
            <a:r>
              <a:rPr lang="en-US" sz="14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()</a:t>
            </a: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funktioniert für jeden Kontotyp unterschiedlich.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65967" y="6997541"/>
            <a:ext cx="12770644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Das Ergebnis ist ein strukturiertes, wartbares und wiederverwendbares Programm, das komplexe Geschäftsanforderungen abbilden kann.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93790" y="6793468"/>
            <a:ext cx="22860" cy="698421"/>
          </a:xfrm>
          <a:prstGeom prst="rect">
            <a:avLst/>
          </a:prstGeom>
          <a:solidFill>
            <a:srgbClr val="26A688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10"/>
          <p:cNvSpPr/>
          <p:nvPr/>
        </p:nvSpPr>
        <p:spPr>
          <a:xfrm>
            <a:off x="6433429" y="1366721"/>
            <a:ext cx="12758976" cy="41268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50"/>
              </a:lnSpc>
              <a:buNone/>
            </a:pPr>
            <a:r>
              <a:rPr lang="en-US" sz="60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Danke für </a:t>
            </a:r>
            <a:r>
              <a:rPr lang="en-US" sz="6000" b="1" dirty="0" err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Ihre</a:t>
            </a:r>
            <a:endParaRPr lang="en-US" sz="6000" b="1" dirty="0">
              <a:solidFill>
                <a:srgbClr val="333F70"/>
              </a:solidFill>
              <a:latin typeface="Unbounded Bold" pitchFamily="34" charset="0"/>
              <a:ea typeface="Unbounded Bold" pitchFamily="34" charset="-122"/>
            </a:endParaRPr>
          </a:p>
          <a:p>
            <a:pPr marL="0" indent="0" algn="l">
              <a:lnSpc>
                <a:spcPts val="12550"/>
              </a:lnSpc>
              <a:buNone/>
            </a:pPr>
            <a:r>
              <a:rPr lang="en-US" sz="6000" b="1" dirty="0" err="1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</a:rPr>
              <a:t>Aufmerksamkeit</a:t>
            </a:r>
            <a:endParaRPr lang="en-US" sz="6000" dirty="0"/>
          </a:p>
        </p:txBody>
      </p:sp>
      <p:sp>
        <p:nvSpPr>
          <p:cNvPr id="15" name="Shape 5">
            <a:extLst>
              <a:ext uri="{FF2B5EF4-FFF2-40B4-BE49-F238E27FC236}">
                <a16:creationId xmlns:a16="http://schemas.microsoft.com/office/drawing/2014/main" id="{EDDA33F7-4251-1062-CF75-85D4FA5D48EB}"/>
              </a:ext>
            </a:extLst>
          </p:cNvPr>
          <p:cNvSpPr/>
          <p:nvPr/>
        </p:nvSpPr>
        <p:spPr>
          <a:xfrm>
            <a:off x="-156945" y="-84889"/>
            <a:ext cx="18991355" cy="1451610"/>
          </a:xfrm>
          <a:prstGeom prst="roundRect">
            <a:avLst>
              <a:gd name="adj" fmla="val 5250"/>
            </a:avLst>
          </a:prstGeom>
          <a:solidFill>
            <a:srgbClr val="D6F5EE"/>
          </a:solidFill>
          <a:ln w="7620">
            <a:solidFill>
              <a:srgbClr val="BCDBD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613</Words>
  <Application>Microsoft Office PowerPoint</Application>
  <PresentationFormat>Benutzerdefiniert</PresentationFormat>
  <Paragraphs>135</Paragraphs>
  <Slides>12</Slides>
  <Notes>11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7" baseType="lpstr">
      <vt:lpstr>Unbounded Bold</vt:lpstr>
      <vt:lpstr>Calibri</vt:lpstr>
      <vt:lpstr>Open Sans</vt:lpstr>
      <vt:lpstr>Arial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subject/>
  <dc:creator>itlabvi</dc:creator>
  <cp:lastModifiedBy>itlabvi</cp:lastModifiedBy>
  <cp:revision>14</cp:revision>
  <dcterms:created xsi:type="dcterms:W3CDTF">2025-10-28T12:06:45Z</dcterms:created>
  <dcterms:modified xsi:type="dcterms:W3CDTF">2025-11-05T13:43:54Z</dcterms:modified>
</cp:coreProperties>
</file>